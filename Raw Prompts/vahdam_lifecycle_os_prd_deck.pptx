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777240"/>
            <a:ext cx="731520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3600" b="1">
                <a:solidFill>
                  <a:srgbClr val="FBF5EA"/>
                </a:solidFill>
                <a:latin typeface="Aptos"/>
              </a:rPr>
              <a:t>VAHDAM Lifecycle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417320"/>
            <a:ext cx="813816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700" b="0">
                <a:solidFill>
                  <a:srgbClr val="FBF5EA"/>
                </a:solidFill>
                <a:latin typeface="Aptos"/>
              </a:rPr>
              <a:t>Two-mode AI operating system for CRM, retention, analytics, creative generation and knowledge-base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2423160" cy="411480"/>
          </a:xfrm>
          <a:prstGeom prst="roundRect">
            <a:avLst/>
          </a:prstGeom>
          <a:solidFill>
            <a:srgbClr val="FBF5EA"/>
          </a:solidFill>
          <a:ln w="12700">
            <a:solidFill>
              <a:srgbClr val="AB8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004A2B"/>
                </a:solidFill>
              </a:rPr>
              <a:t>Budget-Friendly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2286000"/>
            <a:ext cx="2011680" cy="411480"/>
          </a:xfrm>
          <a:prstGeom prst="roundRect">
            <a:avLst/>
          </a:prstGeom>
          <a:solidFill>
            <a:srgbClr val="AB8743"/>
          </a:solidFill>
          <a:ln w="12700">
            <a:solidFill>
              <a:srgbClr val="AB8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BF5EA"/>
                </a:solidFill>
              </a:rPr>
              <a:t>Max Power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89611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400" b="0">
                <a:solidFill>
                  <a:srgbClr val="FBF5EA"/>
                </a:solidFill>
                <a:latin typeface="Aptos"/>
              </a:rPr>
              <a:t>Owner emails: anchit.tandon@vahdam.com for Claude/Vahdam; anchit.tandon@gmail.com for ChatGPT, Gemini and personal tooling.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96926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Critical principle: no app can invisibly read API keys. The correct pattern is a write-only input UI that sends the key once to a server action, stores it in Vercel environment variables, never echoes it, never logs it, then validates through a one-call health check.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1-page 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What must be built before any cosmetic UI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5448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North 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20240"/>
            <a:ext cx="2414016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Revenue per visitor, 6-month LTV and order #2+ contribution margin. First order may lose money; the OS must protect payback windows.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41732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155448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Two deployment modes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76472" y="1920240"/>
            <a:ext cx="2414016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Same product logic and UI. Different environment variables, model routing, token budgets, quality gates and media limits.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41732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48272" y="155448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Security posture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1920240"/>
            <a:ext cx="2414016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No browser-side secrets. API keys enter through a secure admin form, are encrypted in transit, stored in Vercel env vars or secret store, and masked thereafter.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92608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06324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Data vertical 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429000"/>
            <a:ext cx="2414016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Fold all VAHDAM-related data engines, mailer tools, landing-page references, creative systems and analytics modules into one Data Analysis vertical.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92608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76472" y="306324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Knowledge 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76472" y="3429000"/>
            <a:ext cx="2414016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Local scan agent indexes repos and files matching VAHDAM, tea, coffee, SKU, Klaviyo, Shopify, ad, LP, creative and retention keywords into Supabase + graph layer.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2926080"/>
            <a:ext cx="274320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3063240"/>
            <a:ext cx="24140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Execution constraint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3429000"/>
            <a:ext cx="2414016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Claude Code/Vercel CLI should execute locally. This document is the master prompt and PRD; direct deployment from this chat is not possible.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Feature PRD - core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Build as verticals, not scattered pages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54480"/>
            <a:ext cx="21854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Admin + Key Vault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20240"/>
            <a:ext cx="2185416" cy="795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Provider setup wizard, write-only secrets, health checks, usage caps, provider status.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554480"/>
            <a:ext cx="21854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Mailer Studio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920240"/>
            <a:ext cx="2185416" cy="795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Brand-locked HTML email builder, star widget, Klaviyo routing, fatigue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554480"/>
            <a:ext cx="21854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Lifecycle Calendar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920240"/>
            <a:ext cx="2185416" cy="795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Audience segmentation, dispatch windows, smart sending, holiday suppression, sequencing.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4173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08592" y="1554480"/>
            <a:ext cx="21854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Retention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1920240"/>
            <a:ext cx="2185416" cy="795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Cohorts, RPV, AOV, CM1/CM2, LTV, CAC payback, order #2 conversion.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46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3383279"/>
            <a:ext cx="21854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Data Analysis Vertical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3749039"/>
            <a:ext cx="2185416" cy="795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Shopify, Klaviyo, Amazon, ads, logistics, landing page and creative performance analysis.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3246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9312" y="3383279"/>
            <a:ext cx="21854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Knowledge Base +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9312" y="3749039"/>
            <a:ext cx="2185416" cy="795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Supabase pgvector + graph memory for SKU, segment, ingredient, asset and campaign relationships.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246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3383279"/>
            <a:ext cx="21854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Creative + Media Lab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749039"/>
            <a:ext cx="2185416" cy="795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Image, video, music, voice and landing page copy generation via model cascade.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246120"/>
            <a:ext cx="25146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08592" y="3383279"/>
            <a:ext cx="21854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Prompt Library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08592" y="3749039"/>
            <a:ext cx="2185416" cy="7955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Three master prompts for ChatGPT Plus, Gemini Pro and Claude Max, plus app settings instructions.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Architecture - same app, different model policy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Refactor variable names; do not fork business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2103120" y="2788920"/>
            <a:ext cx="2103120" cy="0"/>
          </a:xfrm>
          <a:prstGeom prst="line">
            <a:avLst/>
          </a:prstGeom>
          <a:ln w="25400">
            <a:solidFill>
              <a:srgbClr val="AB8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943600" y="2788920"/>
            <a:ext cx="1965960" cy="0"/>
          </a:xfrm>
          <a:prstGeom prst="line">
            <a:avLst/>
          </a:prstGeom>
          <a:ln w="25400">
            <a:solidFill>
              <a:srgbClr val="AB8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34840" y="3154680"/>
            <a:ext cx="0" cy="1143000"/>
          </a:xfrm>
          <a:prstGeom prst="line">
            <a:avLst/>
          </a:prstGeom>
          <a:ln w="25400">
            <a:solidFill>
              <a:srgbClr val="AB8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138160" y="3154680"/>
            <a:ext cx="0" cy="1143000"/>
          </a:xfrm>
          <a:prstGeom prst="line">
            <a:avLst/>
          </a:prstGeom>
          <a:ln w="25400">
            <a:solidFill>
              <a:srgbClr val="AB8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4663440"/>
            <a:ext cx="1965960" cy="0"/>
          </a:xfrm>
          <a:prstGeom prst="line">
            <a:avLst/>
          </a:prstGeom>
          <a:ln w="25400">
            <a:solidFill>
              <a:srgbClr val="AB874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" y="2331720"/>
            <a:ext cx="18288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AB8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71717"/>
                </a:solidFill>
              </a:rPr>
              <a:t>Frontend
Next.js + Vercel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03320" y="2331720"/>
            <a:ext cx="1965960" cy="731520"/>
          </a:xfrm>
          <a:prstGeom prst="roundRect">
            <a:avLst/>
          </a:prstGeom>
          <a:solidFill>
            <a:srgbClr val="004A2B"/>
          </a:solidFill>
          <a:ln>
            <a:solidFill>
              <a:srgbClr val="AB8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BF5EA"/>
                </a:solidFill>
              </a:rPr>
              <a:t>API Orchestrator
Provider Router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2331720"/>
            <a:ext cx="2560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AB8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71717"/>
                </a:solidFill>
              </a:rPr>
              <a:t>AI Providers
OpenAI/Claude/Gemini/Grok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4297680"/>
            <a:ext cx="246888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AB8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71717"/>
                </a:solidFill>
              </a:rPr>
              <a:t>Data Layer
Supabase + pgvector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95160" y="4297680"/>
            <a:ext cx="256032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AB87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71717"/>
                </a:solidFill>
              </a:rPr>
              <a:t>Graph Memory
Graphify/Neo4j layer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123444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" y="1371600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Budget 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1737360"/>
            <a:ext cx="4425696" cy="20116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Default: Gemini Flash-Lite / Grok Build / local Ollama. Use caching, batch jobs, summaries and strict token ceilings.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0" y="1234440"/>
            <a:ext cx="52120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33872" y="1371600"/>
            <a:ext cx="48828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Max-power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872" y="1737360"/>
            <a:ext cx="4882896" cy="20116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Default: Claude Fable / GPT-5.5 / Gemini Pro / Grok 4.3 with Perplexity-style web research and premium media tools.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Model routing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Use model cascade by job class, not model loyalty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17320"/>
            <a:ext cx="18288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>
                <a:solidFill>
                  <a:srgbClr val="FBF5EA"/>
                </a:solidFill>
                <a:latin typeface="Aptos"/>
              </a:rPr>
              <a:t>Use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44168"/>
            <a:ext cx="1828800" cy="402336"/>
          </a:xfrm>
          <a:prstGeom prst="rect">
            <a:avLst/>
          </a:prstGeom>
          <a:solidFill>
            <a:srgbClr val="004A2B"/>
          </a:solidFill>
          <a:ln>
            <a:solidFill>
              <a:srgbClr val="FB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31720" y="1417320"/>
            <a:ext cx="24688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>
                <a:solidFill>
                  <a:srgbClr val="FBF5EA"/>
                </a:solidFill>
                <a:latin typeface="Aptos"/>
              </a:rPr>
              <a:t>Budget-friendly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344168"/>
            <a:ext cx="2468880" cy="402336"/>
          </a:xfrm>
          <a:prstGeom prst="rect">
            <a:avLst/>
          </a:prstGeom>
          <a:solidFill>
            <a:srgbClr val="004A2B"/>
          </a:solidFill>
          <a:ln>
            <a:solidFill>
              <a:srgbClr val="FB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417320"/>
            <a:ext cx="246888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>
                <a:solidFill>
                  <a:srgbClr val="FBF5EA"/>
                </a:solidFill>
                <a:latin typeface="Aptos"/>
              </a:rPr>
              <a:t>Max power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00600" y="1344168"/>
            <a:ext cx="2468880" cy="402336"/>
          </a:xfrm>
          <a:prstGeom prst="rect">
            <a:avLst/>
          </a:prstGeom>
          <a:solidFill>
            <a:srgbClr val="004A2B"/>
          </a:solidFill>
          <a:ln>
            <a:solidFill>
              <a:srgbClr val="FB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417320"/>
            <a:ext cx="3657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000" b="1">
                <a:solidFill>
                  <a:srgbClr val="FBF5EA"/>
                </a:solidFill>
                <a:latin typeface="Aptos"/>
              </a:rPr>
              <a:t>Why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80" y="1344168"/>
            <a:ext cx="3657600" cy="402336"/>
          </a:xfrm>
          <a:prstGeom prst="rect">
            <a:avLst/>
          </a:prstGeom>
          <a:solidFill>
            <a:srgbClr val="004A2B"/>
          </a:solidFill>
          <a:ln>
            <a:solidFill>
              <a:srgbClr val="FBF5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1847088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901952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Bulk classification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31720" y="1847088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77439" y="1901952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Gemini 3.1 Flash-Lite / Ollama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00600" y="1847088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1901952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Claude Haiku/Sonnet + audit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1847088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0" y="1901952"/>
            <a:ext cx="35661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Cheap tokens; deterministic schema output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322576"/>
            <a:ext cx="182880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377440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CRM strategy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31720" y="2322576"/>
            <a:ext cx="246888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39" y="2377440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Gemini Pro or GPT mini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2322576"/>
            <a:ext cx="246888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2377440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Claude Fable 5 + GPT-5.5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69480" y="2322576"/>
            <a:ext cx="365760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0" y="2377440"/>
            <a:ext cx="35661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Best reasoning + brand judgement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798064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2852928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Mailer HTML/code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2798064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39" y="2852928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Grok Build + Claude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2798064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2852928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Claude Fable / Sonnet + visual QA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2798064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0" y="2852928"/>
            <a:ext cx="35661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Agentic coding and low hallucination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273552"/>
            <a:ext cx="182880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3328416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Search/research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3273552"/>
            <a:ext cx="246888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39" y="3328416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Gemini grounding / xAI web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800600" y="3273552"/>
            <a:ext cx="246888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328416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Perplexity + OpenAI web search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3273552"/>
            <a:ext cx="365760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315200" y="3328416"/>
            <a:ext cx="35661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Fresh citations and competitor context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3749039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803903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Images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331720" y="3749039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377439" y="3803903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Gemini/Flash image or low-cost API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800600" y="3749039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46320" y="3803903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GPT Image / Gemini Pro Image / Grok Imagine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269480" y="3749039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315200" y="3803903"/>
            <a:ext cx="35661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Quality vs cost switching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224528"/>
            <a:ext cx="182880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279392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Video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31720" y="4224528"/>
            <a:ext cx="246888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377439" y="4279392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Static CSS/low-res Kling trial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00600" y="4224528"/>
            <a:ext cx="246888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4279392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Kling Ultra / Grok Imagine Video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9480" y="4224528"/>
            <a:ext cx="365760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315200" y="4279392"/>
            <a:ext cx="35661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Use only for paid winning ads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4700016"/>
            <a:ext cx="18288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754880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Music/audio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331720" y="4700016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377439" y="4754880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Suno free for testing only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00600" y="4700016"/>
            <a:ext cx="246888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46320" y="4754880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Suno Pro/Premier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269480" y="4700016"/>
            <a:ext cx="3657600" cy="475488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315200" y="4754880"/>
            <a:ext cx="35661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Free tier lacks commercial rights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5175504"/>
            <a:ext cx="182880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8640" y="5230368"/>
            <a:ext cx="17373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Voice/Hey Yaara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331720" y="5175504"/>
            <a:ext cx="246888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377439" y="5230368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Ollama + local TTS / xAI STT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800600" y="5175504"/>
            <a:ext cx="246888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46320" y="5230368"/>
            <a:ext cx="2377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GPT Realtime / xAI Voice + local fallback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69480" y="5175504"/>
            <a:ext cx="3657600" cy="475488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315200" y="5230368"/>
            <a:ext cx="356616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50" b="0">
                <a:solidFill>
                  <a:srgbClr val="171717"/>
                </a:solidFill>
                <a:latin typeface="Aptos"/>
              </a:rPr>
              <a:t>Latency and privacy balance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Current pricing anchors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Official pricing sources where available; prices can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463039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OpenAI GPT-5.5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28800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$5 input / $30 output per 1M tokens
Frontier reasoning, coding, QA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39112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2176272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OpenAI GPT-5.4 mini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2542032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$0.75 input / $4.50 output per 1M
Budget subagents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752344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2889503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Claude Fable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255263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$10 input / $50 output per 1M
Top strategic writing and architecture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65576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1" y="3602736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Claude Sonnet 4.6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3968496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$3 input / $15 output per 1M
Balanced coding/analysis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178808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4315968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Gemini 3.1 Flash-Lite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" y="4681728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$0.25 input / $1.50 output per 1M
High-volume tasks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1325880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1" y="1463039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Gemini 3.1 Pro Preview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1828800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$2 input / $12 output per 1M &lt;=200k
Deep multimodal reasoning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2039112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71031" y="2176272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Grok 4.3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71031" y="2542032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$1.25 input / $2.50 output per 1M
Fast general + social/web adjacent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2752344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71031" y="2889503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Grok Build 0.1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71031" y="3255263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$1 input / $2 output per 1M
Agentic coding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06440" y="3465576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71031" y="3602736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Suno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71031" y="3968496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$0 free; Pro $8/mo; Premier $24/mo
Music. Free plan: no commercial use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06440" y="4178808"/>
            <a:ext cx="475488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71031" y="4315968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Ollama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71031" y="4681728"/>
            <a:ext cx="4425696" cy="-5486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$0 local; Pro $20/mo; Max $100/mo
Private/local fallback + cloud scale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126480"/>
            <a:ext cx="10515600" cy="29260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Sources: OpenAI API pricing; Anthropic Claude API pricing; Google Gemini API pricing; xAI models/pricing; Suno pricing; Ollama pricing. Validate again before production spend caps.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API key integration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What Claude Code must implement once, then reuse across every project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2588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463039"/>
            <a:ext cx="42428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1. Provider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828800"/>
            <a:ext cx="424281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providers.json stores name, env var, required scopes, dashboard URL, test endpoint, allowed project mode.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2588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71031" y="1463039"/>
            <a:ext cx="42428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2. Write-only 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1031" y="1828800"/>
            <a:ext cx="424281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Admin enters key in password field. UI never displays stored value; after save it shows masked last 4 chars only if provider allows.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06039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43199"/>
            <a:ext cx="42428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3. Server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108959"/>
            <a:ext cx="424281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POST /api/admin/secrets validates auth, writes encrypted secret via Vercel API/CLI, never console.logs body.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06440" y="2606039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71031" y="2743199"/>
            <a:ext cx="42428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4. Health 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71031" y="3108959"/>
            <a:ext cx="424281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Immediately call a tiny endpoint: list models / no-op completion. Store status, latency and timestamp.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88620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023360"/>
            <a:ext cx="42428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5. Mode mapping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389120"/>
            <a:ext cx="424281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/output-and-budget-friendly and /max-power read different env names but share the same provider adapter interface.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06440" y="3886200"/>
            <a:ext cx="45720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1" y="4023360"/>
            <a:ext cx="424281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6. Spend 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71031" y="4389120"/>
            <a:ext cx="4242816" cy="3383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171717"/>
                </a:solidFill>
                <a:latin typeface="Aptos"/>
              </a:rPr>
              <a:t>Monthly budget, per-run token budget, per-provider fallback order, retry limit, and kill switch.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40680"/>
            <a:ext cx="1060704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1">
                <a:solidFill>
                  <a:srgbClr val="171717"/>
                </a:solidFill>
                <a:latin typeface="Aptos"/>
              </a:rPr>
              <a:t>Required env naming: BUDGET_OPENAI_API_KEY, BUDGET_GEMINI_API_KEY, BUDGET_XAI_API_KEY, BUDGET_SUNO_API_KEY, MAX_OPENAI_API_KEY, MAX_ANTHROPIC_API_KEY, MAX_GEMINI_API_KEY, MAX_XAI_API_KEY, MAX_KLING_API_KEY, SUPABASE_URL, SUPABASE_SERVICE_ROLE_KEY.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Data + knowledge-base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Local agent handles files; app handles normalized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4754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463039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Local scan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4425696" cy="42976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Scan local workspace for file names and contents containing VAHDAM, vahdam, tea, coffee, SKU, Shopify, Klaviyo, Yotpo, Meta, Google Ads, Amazon, landing page, LP, PDP, email, creative, retention.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23560" y="1325880"/>
            <a:ext cx="47548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88152" y="1463039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Supabase tables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88152" y="1828800"/>
            <a:ext cx="4425696" cy="42976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documents, chunks, embeddings, campaigns, assets, products, audiences, orders, model_runs, secrets_audit, provider_health, cost_ledger.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97480"/>
            <a:ext cx="4754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834640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Graph memory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200400"/>
            <a:ext cx="4425696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Nodes: SKU, Product, Ingredient, Segment, Geography, Campaign, Asset, Mailer, Review, Claim, Source. Edges encode belongs_to, improves, caused_by, targets, references, contraindicates.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23560" y="2697480"/>
            <a:ext cx="4754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2834640"/>
            <a:ext cx="442569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RAG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88152" y="3200400"/>
            <a:ext cx="4425696" cy="56692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Every generated output must cite source chunks internally, check against VAHDAM brand rules, reject unsupported claims, and log the model path used.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251960"/>
            <a:ext cx="96926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" y="4389120"/>
            <a:ext cx="936345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Merge instruction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" y="4754880"/>
            <a:ext cx="9363456" cy="24688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Remove standalone VAHDAM data-related files only after their modules, schemas, assets and prompt logic are merged into the Lifecycle OS data vertical and committed.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Quantified token + volume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Use audience size and campaign volume to size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25880"/>
            <a:ext cx="10332720" cy="4114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800" b="1">
                <a:solidFill>
                  <a:srgbClr val="004A2B"/>
                </a:solidFill>
                <a:latin typeface="Aptos"/>
              </a:rPr>
              <a:t>Monthly tokens = audiences x segments x variants x channels x prompt_tokens + generations x output_tokens + QA passes x review_tokens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2834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75688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Audience records analysed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160" y="2011680"/>
            <a:ext cx="2926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075688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100,000/mo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011680"/>
            <a:ext cx="4663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60" y="2075688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classification summaries only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450592"/>
            <a:ext cx="283464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51460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Segments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66160" y="2450592"/>
            <a:ext cx="292608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514600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9 lifecycle cohorts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92240" y="2450592"/>
            <a:ext cx="466344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251460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S1-S9 + suppression logic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89504"/>
            <a:ext cx="2834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95351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Campaign variants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66160" y="2889504"/>
            <a:ext cx="2926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953512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9 segments x 3 variants x 2 channels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2889504"/>
            <a:ext cx="4663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2953512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54 outputs per campaign set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328416"/>
            <a:ext cx="283464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392424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Avg input/output per mailer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566160" y="3328416"/>
            <a:ext cx="292608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3392424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3k input / 1.2k 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328416"/>
            <a:ext cx="466344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392424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brand, SKU, segment and source context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767328"/>
            <a:ext cx="2834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3831336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Monthly generation load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566160" y="3767328"/>
            <a:ext cx="2926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11880" y="3831336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54 x 4 weekly sets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767328"/>
            <a:ext cx="4663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831336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216 copy outputs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206240"/>
            <a:ext cx="283464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270248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Estimated generation tokens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566160" y="4206240"/>
            <a:ext cx="292608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4270248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648k input / 259k output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206240"/>
            <a:ext cx="466344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4270248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before QA/cache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645152"/>
            <a:ext cx="28346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4709160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Budget cost rough order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4645152"/>
            <a:ext cx="29260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11880" y="4709160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$1-$15 variable model cost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4645152"/>
            <a:ext cx="4663440" cy="438912"/>
          </a:xfrm>
          <a:prstGeom prst="rect">
            <a:avLst/>
          </a:prstGeom>
          <a:solidFill>
            <a:srgbClr val="FFFFFF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709160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excluding paid media tools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084064"/>
            <a:ext cx="283464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148072"/>
            <a:ext cx="27432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Max-power cost rough order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566160" y="5084064"/>
            <a:ext cx="292608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11880" y="5148072"/>
            <a:ext cx="283464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$20-$150+ variable model cost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5084064"/>
            <a:ext cx="4663440" cy="438912"/>
          </a:xfrm>
          <a:prstGeom prst="rect">
            <a:avLst/>
          </a:prstGeom>
          <a:solidFill>
            <a:srgbClr val="F7EFE2"/>
          </a:solidFill>
          <a:ln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37960" y="5148072"/>
            <a:ext cx="457200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950" b="0">
                <a:solidFill>
                  <a:srgbClr val="171717"/>
                </a:solidFill>
                <a:latin typeface="Aptos"/>
              </a:rPr>
              <a:t>depends on images/video/research calls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5715000"/>
            <a:ext cx="10332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Aptos"/>
              </a:rPr>
              <a:t>Hard guardrail: use cached brand/system prompts, batch analysis, retrieval compression, and local Ollama for non-sensitive low-value tasks. Never rely on unlimited subscription usage for production workloads.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Three master prompt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Same PRD, adapted to each model strength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0632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54480"/>
            <a:ext cx="273405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ChatGPT Plus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20240"/>
            <a:ext cx="2734056" cy="285292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Use for product reasoning, QA, implementation reviews and final synthesis. Enforce structured outputs, unit economics, security, source-aware claims and Vercel env separation.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77639" y="1417320"/>
            <a:ext cx="30632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42231" y="1554480"/>
            <a:ext cx="273405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Gemini Pro prompt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42231" y="1920240"/>
            <a:ext cx="2734056" cy="285292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Use for large-context ingestion, multimodal data analysis, spreadsheet/log reconciliation and Google-grounded research. Demand quantified tables and source conflict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417320"/>
            <a:ext cx="306324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34072" y="1554480"/>
            <a:ext cx="273405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Claude Max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2" y="1920240"/>
            <a:ext cx="2734056" cy="2852927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Use for Claude Code execution, repo refactor, PRD-to-code implementation, Vercel CLI setup and UI polish. Give strict file-edit boundaries and change logs.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9875520" cy="6858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171717"/>
                </a:solidFill>
                <a:latin typeface="Aptos"/>
              </a:rPr>
              <a:t>All three prompts must include: VAHDAM brand rules, confidence tags where useful, no key exposure, no fabricated files/selectors, model fallback cascade, budget mode vs max-power mode, Supabase + graph memory, mobile analytics fallback, and change-log requirement.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Claude Code execution prompt - compressed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Paste this as the implementation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2743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0">
                <a:solidFill>
                  <a:srgbClr val="171717"/>
                </a:solidFill>
                <a:latin typeface="Aptos"/>
              </a:rPr>
              <a:t>Build VAHDAM Lifecycle OS as a Next.js/Vercel app with two route modes: /output-and-budget-friendly and /max-power. Do not fork product logic; use provider policies and env variable maps. Implement: Admin Key Vault, provider registry, model router, Supabase + pgvector KB, graph memory adapter, lifecycle CRM modules, mailer studio, Klaviyo/Shopify/Meta/Google/Amazon connectors, data analysis vertical, creative/media lab, prompt library and mobile analytics fallback. Secrets must be write-only: never echo, log or expose API keys. Use anchit.tandon@vahdam.com for Claude/Vahdam setup notes; use anchit.tandon@gmail.com for ChatGPT/Gemini/personal provider setup notes. Scan local workspace for VAHDAM/tea/coffee/SKU/Shopify/Klaviyo/email/LP/creative/retention keywords and merge relevant data projects into the data vertical before removing standalone files. Deploy through Vercel CLI and set env vars separately for budget and max-power modes. Output a change log ending with: No other changes made.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4389120"/>
            <a:ext cx="4937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4526280"/>
            <a:ext cx="460857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Deployment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892040"/>
            <a:ext cx="4608576" cy="6126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vercel link
vercel env add BUDGET_OPENAI_API_KEY production
vercel env add MAX_ANTHROPIC_API_KEY production
vercel --prod
# validate both routes with provider health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4389120"/>
            <a:ext cx="493776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53912" y="4526280"/>
            <a:ext cx="460857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Done criteria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3912" y="4892040"/>
            <a:ext cx="4608576" cy="6126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Both routes load, all providers show health status, no secrets appear in browser/source/logs, Supabase migrations pass, mobile tables render cleanly, and mailer/star widget routes validate.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5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8046720" cy="5029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2800" b="1">
                <a:solidFill>
                  <a:srgbClr val="004A2B"/>
                </a:solidFill>
                <a:latin typeface="Aptos"/>
              </a:rPr>
              <a:t>Source notes and verification 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59536"/>
            <a:ext cx="8961120" cy="3200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100" b="0">
                <a:solidFill>
                  <a:srgbClr val="565248"/>
                </a:solidFill>
                <a:latin typeface="Aptos"/>
              </a:rPr>
              <a:t>Refresh pricing before spend-cap approval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1828800" cy="36576"/>
          </a:xfrm>
          <a:prstGeom prst="rect">
            <a:avLst/>
          </a:prstGeom>
          <a:solidFill>
            <a:srgbClr val="AB87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9784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71717"/>
                </a:solidFill>
              </a:defRPr>
            </a:pPr>
            <a:r>
              <a:t>OpenAI API pricing: GPT-5.5, GPT-5.4 mini, web search and container rates.</a:t>
            </a:r>
          </a:p>
          <a:p>
            <a:pPr>
              <a:defRPr sz="1300">
                <a:solidFill>
                  <a:srgbClr val="171717"/>
                </a:solidFill>
              </a:defRPr>
            </a:pPr>
            <a:r>
              <a:t>Anthropic Claude API pricing: Fable 5, Opus, Sonnet and Haiku rates.</a:t>
            </a:r>
          </a:p>
          <a:p>
            <a:pPr>
              <a:defRPr sz="1300">
                <a:solidFill>
                  <a:srgbClr val="171717"/>
                </a:solidFill>
              </a:defRPr>
            </a:pPr>
            <a:r>
              <a:t>Google Gemini API pricing: Flash-Lite, Pro Preview, grounding and image pricing.</a:t>
            </a:r>
          </a:p>
          <a:p>
            <a:pPr>
              <a:defRPr sz="1300">
                <a:solidFill>
                  <a:srgbClr val="171717"/>
                </a:solidFill>
              </a:defRPr>
            </a:pPr>
            <a:r>
              <a:t>xAI docs: Grok 4.3, Grok Build, Voice API and Imagine API prices.</a:t>
            </a:r>
          </a:p>
          <a:p>
            <a:pPr>
              <a:defRPr sz="1300">
                <a:solidFill>
                  <a:srgbClr val="171717"/>
                </a:solidFill>
              </a:defRPr>
            </a:pPr>
            <a:r>
              <a:t>Suno pricing: free daily credits, no commercial use on free plan, Pro/Premier rights.</a:t>
            </a:r>
          </a:p>
          <a:p>
            <a:pPr>
              <a:defRPr sz="1300">
                <a:solidFill>
                  <a:srgbClr val="171717"/>
                </a:solidFill>
              </a:defRPr>
            </a:pPr>
            <a:r>
              <a:t>Ollama pricing: local/offline availability, Pro and Max cloud usage tiers.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749039"/>
            <a:ext cx="969264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4D9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886200"/>
            <a:ext cx="9363456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300" b="1">
                <a:solidFill>
                  <a:srgbClr val="004A2B"/>
                </a:solidFill>
                <a:latin typeface="Aptos"/>
              </a:rPr>
              <a:t>Verification before code merge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251959"/>
            <a:ext cx="9363456" cy="6126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1200" b="0">
                <a:solidFill>
                  <a:srgbClr val="171717"/>
                </a:solidFill>
                <a:latin typeface="Aptos"/>
              </a:rPr>
              <a:t>1. Run secret-leak scan. 2. Validate Vercel env by target route. 3. Run provider health checks. 4. Compare generated claims against KB source chunks. 5. Render mobile analytics at &lt;768px. 6. Log token/cost ledger for every model run.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473952"/>
            <a:ext cx="4572000" cy="228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r>
              <a:rPr sz="800" b="0">
                <a:solidFill>
                  <a:srgbClr val="565248"/>
                </a:solidFill>
                <a:latin typeface="Aptos"/>
              </a:rPr>
              <a:t>VAHDAM Lifecycle OS | PRD + Execution Prompt |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